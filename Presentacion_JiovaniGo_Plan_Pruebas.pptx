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B8860B"/>
                </a:solidFill>
              </a:defRPr>
            </a:pPr>
            <a:r>
              <a:t>PLAN DE PRUEBAS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333333"/>
                </a:solidFill>
              </a:defRPr>
            </a:pPr>
            <a:r>
              <a:t>JiovaniGo - Plataforma E-commerce de Perfumes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Joaquin Cancino Torres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Universidad Católica del Maule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Ingeniería Civil Informática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Noviembre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1. Introducción al Proyecto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2. Objetivos del Plan de Pruebas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3. Alcance de las Pruebas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4. Tipos de Pruebas Implementadas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5. Criterios de Éxito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6. Entorno de Pruebas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7. Casos de Prueba Principales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8. Resultados de las Pruebas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9. Test de Usabilidad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10. Gestión de Defectos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11. Métricas Finales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</a:defRPr>
            </a:pPr>
            <a:r>
              <a:t>12. Conclusiones y Lecciones Aprendidas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Contexto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91440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JiovaniGo - E-commerce de Perfumes de Alta Gama</a:t>
            </a:r>
          </a:p>
          <a:p>
            <a:pPr algn="ctr">
              <a:defRPr sz="1800">
                <a:solidFill>
                  <a:srgbClr val="333333"/>
                </a:solidFill>
              </a:defRPr>
            </a:pPr>
            <a:r>
              <a:t>Plataforma de comercio electrónico para la venta de perfumes premium en el mercado chileno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B8860B"/>
                </a:solidFill>
              </a:defRPr>
            </a:pPr>
            <a:r>
              <a:t>Arquitectura: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</a:defRPr>
            </a:pPr>
            <a:r>
              <a:t>• Backend: Node.js + Express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</a:defRPr>
            </a:pPr>
            <a:r>
              <a:t>• Frontend: React con gestión de estado global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</a:defRPr>
            </a:pPr>
            <a:r>
              <a:t>• Base de Datos: MongoDB Atlas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</a:defRPr>
            </a:pPr>
            <a:r>
              <a:t>• Pagos: Transbank WebPay Plus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Funcionalidades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B8860B"/>
                </a:solidFill>
              </a:defRPr>
            </a:pPr>
            <a:r>
              <a:t>Gestión de Usuarios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Autenticación JWT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Roles (Usuario/Admin)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Gestión de sesiones</a:t>
            </a:r>
          </a:p>
          <a:p>
            <a:br/>
            <a:pPr>
              <a:spcAft>
                <a:spcPts val="800"/>
              </a:spcAft>
              <a:defRPr sz="2200" b="1">
                <a:solidFill>
                  <a:srgbClr val="B8860B"/>
                </a:solidFill>
              </a:defRPr>
            </a:pPr>
            <a:r>
              <a:t>Catálogo de Productos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Segmentación por género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Búsqueda y filtros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Imágenes de alta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B8860B"/>
                </a:solidFill>
              </a:defRPr>
            </a:pPr>
            <a:r>
              <a:t>Proceso de Compra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Carrito de compras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Checkout con validación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Integración Transbank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Seguimiento de órdenes</a:t>
            </a:r>
          </a:p>
          <a:p>
            <a:br/>
            <a:pPr>
              <a:spcAft>
                <a:spcPts val="800"/>
              </a:spcAft>
              <a:defRPr sz="2200" b="1">
                <a:solidFill>
                  <a:srgbClr val="B8860B"/>
                </a:solidFill>
              </a:defRPr>
            </a:pPr>
            <a:r>
              <a:t>Panel Administrativo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Gestión de productos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Analíticas y reportes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Sistema de mensajes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Objetivos del Plan de Pruebas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109728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Objetivo General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Validar que el sistema JiovaniGo cumple con los requisitos funcionales y no funcionales establecidos, garantizando la calidad del software antes de su entrega final.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33333"/>
                </a:solidFill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Verificar el correcto funcionamiento del flujo de autenticación y autorización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Validar la integridad del proceso de compra completo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Comprobar la correcta integración con Transbank WebPay Plus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4. Evaluar la usabilidad de la interfaz con usuarios reales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5. Detectar y documentar defectos para corrección oportuna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6. Medir métricas de calidad del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Alcance de las Pruebas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CAF50"/>
                </a:solidFill>
              </a:defRPr>
            </a:pPr>
            <a:r>
              <a:t>✓ Dentro del Alcance: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unitarias de componentes críticos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de integración (Transbank)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de interfaz de usuario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de usabilidad con 2 usuarios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Validación de datos de entrada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Manejo de errores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9800"/>
                </a:solidFill>
              </a:defRPr>
            </a:pPr>
            <a:r>
              <a:t>✗ Fuera del Alcance: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de carga y rendimiento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Penetration testing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Pruebas en múltiples navegadores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Dispositivos móviles nativos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Tipos de Pruebas Implementadas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210312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600"/>
              </a:spcAft>
              <a:defRPr sz="2000" b="1">
                <a:solidFill>
                  <a:srgbClr val="B8860B"/>
                </a:solidFill>
              </a:defRPr>
            </a:pPr>
            <a:r>
              <a:t>Pruebas Unitarias</a:t>
            </a:r>
          </a:p>
          <a:p>
            <a:pPr>
              <a:spcAft>
                <a:spcPts val="800"/>
              </a:spcAft>
              <a:defRPr sz="1600" i="1">
                <a:solidFill>
                  <a:srgbClr val="333333"/>
                </a:solidFill>
              </a:defRPr>
            </a:pPr>
            <a:r>
              <a:t>Herramienta: Jest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Funciones de autenticación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Validación de datos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Cálculo de totales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Generación de buyOrder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029200" cy="210312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600"/>
              </a:spcAft>
              <a:defRPr sz="2000" b="1">
                <a:solidFill>
                  <a:srgbClr val="B8860B"/>
                </a:solidFill>
              </a:defRPr>
            </a:pPr>
            <a:r>
              <a:t>Pruebas de Integración</a:t>
            </a:r>
          </a:p>
          <a:p>
            <a:pPr>
              <a:spcAft>
                <a:spcPts val="800"/>
              </a:spcAft>
              <a:defRPr sz="1600" i="1">
                <a:solidFill>
                  <a:srgbClr val="333333"/>
                </a:solidFill>
              </a:defRPr>
            </a:pPr>
            <a:r>
              <a:t>Herramienta: API Endpoints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MongoDB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Transbank SDK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Nodemailer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Flujo de pago E2E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029200" cy="210312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600"/>
              </a:spcAft>
              <a:defRPr sz="2000" b="1">
                <a:solidFill>
                  <a:srgbClr val="B8860B"/>
                </a:solidFill>
              </a:defRPr>
            </a:pPr>
            <a:r>
              <a:t>Pruebas E2E</a:t>
            </a:r>
          </a:p>
          <a:p>
            <a:pPr>
              <a:spcAft>
                <a:spcPts val="800"/>
              </a:spcAft>
              <a:defRPr sz="1600" i="1">
                <a:solidFill>
                  <a:srgbClr val="333333"/>
                </a:solidFill>
              </a:defRPr>
            </a:pPr>
            <a:r>
              <a:t>Herramienta: Cypress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Flujos completos de usuario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Navegación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Formularios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931920"/>
            <a:ext cx="5029200" cy="210312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600"/>
              </a:spcAft>
              <a:defRPr sz="2000" b="1">
                <a:solidFill>
                  <a:srgbClr val="B8860B"/>
                </a:solidFill>
              </a:defRPr>
            </a:pPr>
            <a:r>
              <a:t>Pruebas de Usabilidad</a:t>
            </a:r>
          </a:p>
          <a:p>
            <a:pPr>
              <a:spcAft>
                <a:spcPts val="800"/>
              </a:spcAft>
              <a:defRPr sz="1600" i="1">
                <a:solidFill>
                  <a:srgbClr val="333333"/>
                </a:solidFill>
              </a:defRPr>
            </a:pPr>
            <a:r>
              <a:t>Herramienta: Test de Usuario + SUS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2 usuarios reales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Tareas específicas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Métricas medibles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Feedback cualitativo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Criterios de Éxito y Métricas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Criterio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Valor Objetivo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Pruebas unitarias exitosas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% tests pasados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Cobertura de código 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Líneas testeadas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≥ 70%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Defectos críticos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N° bugs bloqueantes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Defectos altos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N° bugs importantes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≤ 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Tiempo respuesta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Ms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&lt; 500ms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Completación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Usuarios exitosos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100% (2/2)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Satisfacción usabilidad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Escala 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≥ 80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Errores manejados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Casos edge cubiertos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≥ 90%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Entorno de Pruebas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B8860B"/>
                </a:solidFill>
              </a:defRPr>
            </a:pPr>
            <a:r>
              <a:t>Hardware Requerido: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Procesador: Intel i5 / AMD Ryzen 5+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RAM: 8 GB mínimo (16 GB recomendado)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Almacenamiento: 10 GB libres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Internet: Requerida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B8860B"/>
                </a:solidFill>
              </a:defRPr>
            </a:pPr>
            <a:r>
              <a:t>Software Requerido: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Node.js ≥ 16.x LTS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npm ≥ 8.x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MongoDB Atlas 6.x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Google Chrome (última versión)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Jest 29.x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Cypress 13.x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Casos de Prueba Principales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1188720"/>
          </a:xfrm>
          <a:prstGeom prst="roundRect">
            <a:avLst/>
          </a:prstGeom>
          <a:solidFill>
            <a:srgbClr val="F5F5F0"/>
          </a:solidFill>
          <a:ln w="381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spcAft>
                <a:spcPts val="600"/>
              </a:spcAft>
              <a:defRPr sz="2000" b="1">
                <a:solidFill>
                  <a:srgbClr val="4682B4"/>
                </a:solidFill>
              </a:defRPr>
            </a:pPr>
            <a:r>
              <a:t>Módulo de Autenticación (6 casos)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AU-01: Registro exitoso | AU-02: Email duplicado</a:t>
            </a:r>
            <a:br/>
            <a:r>
              <a:t>AU-03: Login exitoso | AU-04: Password incorrecto</a:t>
            </a:r>
            <a:br/>
            <a:r>
              <a:t>AU-05: Ruta protegida sin token | AU-06: Rol admin requerido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08960"/>
            <a:ext cx="10362895" cy="1188720"/>
          </a:xfrm>
          <a:prstGeom prst="roundRect">
            <a:avLst/>
          </a:prstGeom>
          <a:solidFill>
            <a:srgbClr val="F5F5F0"/>
          </a:solidFill>
          <a:ln w="381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spcAft>
                <a:spcPts val="600"/>
              </a:spcAft>
              <a:defRPr sz="2000" b="1">
                <a:solidFill>
                  <a:srgbClr val="FF9800"/>
                </a:solidFill>
              </a:defRPr>
            </a:pPr>
            <a:r>
              <a:t>Módulo de Pagos (8 casos - Crítico)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PA-01: Iniciar pago válido | PA-02: Stock insuficiente</a:t>
            </a:r>
            <a:br/>
            <a:r>
              <a:t>PA-03: Pago exitoso | PA-04: Pago rechazado</a:t>
            </a:r>
            <a:br/>
            <a:r>
              <a:t>PA-05: Timeout | PA-06: Cancelación usuario</a:t>
            </a:r>
            <a:br/>
            <a:r>
              <a:t>PA-07: Prevención doble-commit | PA-08: buyOrder único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10362895" cy="1188720"/>
          </a:xfrm>
          <a:prstGeom prst="roundRect">
            <a:avLst/>
          </a:prstGeom>
          <a:solidFill>
            <a:srgbClr val="F5F5F0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spcAft>
                <a:spcPts val="600"/>
              </a:spcAft>
              <a:defRPr sz="2000" b="1">
                <a:solidFill>
                  <a:srgbClr val="4CAF50"/>
                </a:solidFill>
              </a:defRPr>
            </a:pPr>
            <a:r>
              <a:t>Otros Módulos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Productos (5 casos): Listar, filtrar, buscar, crear, stock</a:t>
            </a:r>
            <a:br/>
            <a:r>
              <a:t>UI (8 casos): Carrito, checkout, validaciones, estados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Resultados - Pruebas Backend (Jest)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1200"/>
              </a:spcAft>
              <a:defRPr sz="2400" b="1">
                <a:solidFill>
                  <a:srgbClr val="FFFFFF"/>
                </a:solidFill>
              </a:defRPr>
            </a:pPr>
            <a:r>
              <a:t>Ejecución de Tests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Total de pruebas: 33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Pasando: 33 (100%)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Fallando: 0 (0%)</a:t>
            </a:r>
          </a:p>
          <a:p>
            <a:br/>
            <a:pPr algn="ctr">
              <a:defRPr sz="2800" b="1">
                <a:solidFill>
                  <a:srgbClr val="FFFFFF"/>
                </a:solidFill>
              </a:defRPr>
            </a:pPr>
            <a:r>
              <a:t>✓ EXITOSO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1200"/>
              </a:spcAft>
              <a:defRPr sz="2400" b="1">
                <a:solidFill>
                  <a:srgbClr val="B8860B"/>
                </a:solidFill>
              </a:defRPr>
            </a:pPr>
            <a:r>
              <a:t>Cobertura de Código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Total: 44.39%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Middleware: 82.14%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Models: 71.73%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Routes: 68.10%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Controllers: 29.67%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10362895" cy="13716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Análisis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Cobertura adecuada para escala del proyecto. Product.js alcanza 100%. Controllers requieren mayor cobertura debido a integraciones externas.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Resultados - Pruebas Frontend (Cypress)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228600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1200"/>
              </a:spcAft>
              <a:defRPr sz="2400" b="1">
                <a:solidFill>
                  <a:srgbClr val="B8860B"/>
                </a:solidFill>
              </a:defRPr>
            </a:pPr>
            <a:r>
              <a:t>Ejecución de Tests E2E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Total de pruebas: 20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Pasando: 17 (85%)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Fallando: 3 (15%)</a:t>
            </a:r>
          </a:p>
          <a:p>
            <a:br/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Suites: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auth.cy.js: 6/7 (85.7%)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cart.cy.js: 4/5 (80%)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catalog.cy.js: 7/8 (87.5%)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029200" cy="228600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800"/>
              </a:spcAft>
              <a:defRPr sz="2400" b="1">
                <a:solidFill>
                  <a:srgbClr val="FF9800"/>
                </a:solidFill>
              </a:defRPr>
            </a:pPr>
            <a:r>
              <a:t>Análisis de Fallos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Los 3 tests fallidos NO representan errores funcionales: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UI-17: Cambio de texto a ícono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UI-10: Dropdown en lugar de botón directo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UI-04: Migración a Material-UI</a:t>
            </a:r>
          </a:p>
          <a:p>
            <a:br/>
            <a:pPr>
              <a:defRPr sz="2000" b="1">
                <a:solidFill>
                  <a:srgbClr val="4CAF50"/>
                </a:solidFill>
              </a:defRPr>
            </a:pPr>
            <a:r>
              <a:t>✓ Funcionalidad: 100% operativa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389120"/>
            <a:ext cx="6705295" cy="10972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Tasa de éxito global: 94.3% (50/53 tests)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Test de Usabilidad - Metodología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73152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System Usability Scale (SUS) - Estándar de la industria para medir usabilidad percibida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33333"/>
                </a:solidFill>
              </a:defRPr>
            </a:pPr>
            <a:r>
              <a:t>Participantes: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Usuario 1: Mujer, 28 años, Contadora, experiencia moderada en compras online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Usuario 2: Hombre, 35 años, Ingeniero, experiencia experta en compras online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33333"/>
                </a:solidFill>
              </a:defRPr>
            </a:pPr>
            <a:r>
              <a:t>Tareas Evaluadas: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1. Registro en la plataforma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2. Explorar catálogo de perfumes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3. Agregar producto al carrito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4. Revisar y modificar carrito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5. Proceso de checkout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6. Encontrar información de contacto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Resultados del Test de Usabilidad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22860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1200"/>
              </a:spcAft>
              <a:defRPr sz="2800" b="1">
                <a:solidFill>
                  <a:srgbClr val="FFFFFF"/>
                </a:solidFill>
              </a:defRPr>
            </a:pPr>
            <a:r>
              <a:t>Puntuación SUS</a:t>
            </a:r>
          </a:p>
          <a:p>
            <a:pPr algn="ctr"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Usuario 1: 75.0/100</a:t>
            </a:r>
          </a:p>
          <a:p>
            <a:pPr algn="ctr"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Usuario 2: 85.0/100</a:t>
            </a:r>
          </a:p>
          <a:p>
            <a:br/>
            <a:pPr algn="ctr"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Promedio: 80.0/100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✓ Cumple objetivo (≥ 80)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B8860B"/>
                </a:solidFill>
              </a:defRPr>
            </a:pPr>
            <a:r>
              <a:t>Tiempos de Completación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Registro: 2.1 min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Catálogo: 2.5 min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Agregar: 1.55 min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Carrito: 1.35 min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Checkout: 3.9 min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Contacto: 0.65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10362895" cy="13716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</a:defRPr>
            </a:pPr>
            <a:r>
              <a:t>Hallazgo Principal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Ambos usuarios reportaron dificultad para encontrar el botón "Agregar al carrito" (oculto en menú dropdown)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Aspectos Positivos y 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CAF50"/>
                </a:solidFill>
              </a:defRPr>
            </a:pPr>
            <a:r>
              <a:t>✓ Aspectos Positivos: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Diseño elegante y profesional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Carrito funcional con actualización automática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Integración Transbank genera confianza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Buen rendimiento y velocidad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Navegación por categorías intuitiva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9800"/>
                </a:solidFill>
              </a:defRPr>
            </a:pPr>
            <a:r>
              <a:t>⚠ Recomendaciones: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Alta Prioridad: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Hacer botón "Agregar al carrito" más visible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Mejorar visibilidad link de registro</a:t>
            </a:r>
          </a:p>
          <a:p>
            <a:br/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Mejoras Adicionales: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Agregar placeholder en campo teléfono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• Implementar autocompletado región/ciudad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Gestión de Defectos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4095" cy="1371600"/>
          </a:xfrm>
          <a:prstGeom prst="roundRect">
            <a:avLst/>
          </a:prstGeom>
          <a:solidFill>
            <a:srgbClr val="F5F5F0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spcAft>
                <a:spcPts val="1000"/>
              </a:spcAft>
              <a:defRPr sz="2400" b="1">
                <a:solidFill>
                  <a:srgbClr val="B8860B"/>
                </a:solidFill>
              </a:defRPr>
            </a:pPr>
            <a:r>
              <a:t>Clasificación por Severidad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Críticos: 0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Altos: 0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Medios: 3</a:t>
            </a:r>
          </a:p>
          <a:p>
            <a:pPr algn="ctr"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Bajos: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33333"/>
                </a:solidFill>
              </a:defRPr>
            </a:pPr>
            <a:r>
              <a:t>Defectos Medios Identificados: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DEF-001: Botón "Agregar al carrito" poco visible (UX)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DEF-002: Link de registro con bajo contraste (UI)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DEF-003: Validación de teléfono sin indicación de formato (Validación)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5029200"/>
            <a:ext cx="7619695" cy="7315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✓ Sistema estable sin defectos críticos o altos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Métricas Finales del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</a:defRPr>
                      </a:pPr>
                      <a:r>
                        <a:t>Obtenido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Pruebas unitarias pasadas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4CAF50"/>
                          </a:solidFill>
                        </a:defRPr>
                      </a:pPr>
                      <a:r>
                        <a:t>100%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Cobertura de código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≥ 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9800"/>
                          </a:solidFill>
                        </a:defRPr>
                      </a:pPr>
                      <a:r>
                        <a:t>44.39% ~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Defectos críticos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4CAF50"/>
                          </a:solidFill>
                        </a:defRPr>
                      </a:pPr>
                      <a:r>
                        <a:t>0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Defectos altos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≤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4CAF50"/>
                          </a:solidFill>
                        </a:defRPr>
                      </a:pPr>
                      <a:r>
                        <a:t>0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Satisfacción usabilidad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≥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4CAF50"/>
                          </a:solidFill>
                        </a:defRPr>
                      </a:pPr>
                      <a:r>
                        <a:t>80.0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Funcionalidades implementadas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333333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4CAF50"/>
                          </a:solidFill>
                        </a:defRPr>
                      </a:pPr>
                      <a:r>
                        <a:t>&gt;95%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200400" y="5303520"/>
            <a:ext cx="5790895" cy="7315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Tasa de Cumplimiento: 83.3% (5 de 6 objetivos)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4CAF50"/>
                </a:solidFill>
              </a:defRPr>
            </a:pPr>
            <a:r>
              <a:t>Logros Principales: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100% de pruebas unitarias pasando - Backend estable y confiable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94.3% de pruebas totales exitosas - Alta calidad general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0 defectos críticos o altos - Sistema listo para producción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SUS 80/100 - Muy buena usabilidad (sobre estándar industria)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Integración Transbank validada - Pagos funcionando correctamente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9800"/>
                </a:solidFill>
              </a:defRPr>
            </a:pPr>
            <a:r>
              <a:t>Áreas de Mejora Identificadas: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⚙ Aumentar cobertura de código en controladores (objetivo: 70%)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⚙ Mejorar visibilidad de elementos UI críticos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⚙ Implementar mejoras de usabilidad identificadas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Lecciones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1. Valor de los Mocks: Implementación de mocks para servicios externos permitió testing confiable e independiente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2. Testing Temprano: Implementar tests desde etapas iniciales facilita detección temprana de problemas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3. Mantenimiento de Tests E2E: Usar data-testid en lugar de clases CSS para mayor estabilidad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4. Cobertura vs Calidad: 44.39% de cobertura es adecuado al cubrir casos críticos - más valioso que cobertura alta superficial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5. Tests de Usabilidad: Usuarios reales revelan problemas de UX que tests automatizados no detectan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</a:defRPr>
            </a:pPr>
            <a:r>
              <a:rPr b="1">
                <a:solidFill>
                  <a:srgbClr val="B8860B"/>
                </a:solidFill>
              </a:rPr>
              <a:t>6. Estrategia Híbrida: Combinación de pruebas unitarias (backend) y E2E (frontend) proporciona cobertura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5340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B8860B"/>
                </a:solidFill>
              </a:defRPr>
            </a:pPr>
            <a:r>
              <a:t>Gracias</a:t>
            </a:r>
          </a:p>
          <a:p>
            <a:pPr algn="ctr">
              <a:defRPr sz="4400">
                <a:solidFill>
                  <a:srgbClr val="333333"/>
                </a:solidFill>
              </a:defRPr>
            </a:pPr>
            <a:r>
              <a:t>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5340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  <a:defRPr sz="2800" b="1">
                <a:solidFill>
                  <a:srgbClr val="333333"/>
                </a:solidFill>
              </a:defRPr>
            </a:pPr>
            <a:r>
              <a:t>Joaquin Cancino Torres</a:t>
            </a:r>
          </a:p>
          <a:p>
            <a:pPr algn="ctr"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t>INF-524 - Taller de Desarrollo de Software</a:t>
            </a:r>
          </a:p>
          <a:p>
            <a:pPr algn="ctr">
              <a:spcAft>
                <a:spcPts val="2000"/>
              </a:spcAft>
              <a:defRPr sz="2200">
                <a:solidFill>
                  <a:srgbClr val="333333"/>
                </a:solidFill>
              </a:defRPr>
            </a:pPr>
            <a:r>
              <a:t>Universidad Católica del Maule</a:t>
            </a:r>
          </a:p>
          <a:p>
            <a:pPr algn="ctr">
              <a:defRPr sz="2000">
                <a:solidFill>
                  <a:srgbClr val="DAA520"/>
                </a:solidFill>
              </a:defRPr>
            </a:pPr>
            <a:r>
              <a:t>Noviembre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